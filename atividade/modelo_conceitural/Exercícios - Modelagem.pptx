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09" r:id="rId2"/>
    <p:sldId id="310" r:id="rId3"/>
    <p:sldId id="311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81E02-F89C-4280-8F5D-7EF1C1543FD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24540-67A8-4967-9A3D-39CCBECA2A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601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9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69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9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6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0959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Título e Conteúd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0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7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0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9" name="Google Shape;29;p7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7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026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1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71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1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0976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e conteúdo">
  <p:cSld name="1_Título e conteúdo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2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2"/>
          <p:cNvSpPr txBox="1">
            <a:spLocks noGrp="1"/>
          </p:cNvSpPr>
          <p:nvPr>
            <p:ph type="body" idx="1"/>
          </p:nvPr>
        </p:nvSpPr>
        <p:spPr>
          <a:xfrm>
            <a:off x="685800" y="2063396"/>
            <a:ext cx="10394707" cy="3311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2" name="Google Shape;42;p7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0316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ação" type="twoTxTwoObj">
  <p:cSld name="1_Comparaçã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3"/>
          <p:cNvSpPr txBox="1"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3"/>
          <p:cNvSpPr txBox="1"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392"/>
              <a:buNone/>
              <a:defRPr sz="26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3"/>
          <p:cNvSpPr txBox="1">
            <a:spLocks noGrp="1"/>
          </p:cNvSpPr>
          <p:nvPr>
            <p:ph type="body" idx="2"/>
          </p:nvPr>
        </p:nvSpPr>
        <p:spPr>
          <a:xfrm>
            <a:off x="685802" y="2861733"/>
            <a:ext cx="5088712" cy="2512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9" name="Google Shape;49;p73"/>
          <p:cNvSpPr txBox="1">
            <a:spLocks noGrp="1"/>
          </p:cNvSpPr>
          <p:nvPr>
            <p:ph type="body" idx="3"/>
          </p:nvPr>
        </p:nvSpPr>
        <p:spPr>
          <a:xfrm>
            <a:off x="6218191" y="2063396"/>
            <a:ext cx="4864491" cy="679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392"/>
              <a:buNone/>
              <a:defRPr sz="26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3"/>
          <p:cNvSpPr txBox="1">
            <a:spLocks noGrp="1"/>
          </p:cNvSpPr>
          <p:nvPr>
            <p:ph type="body" idx="4"/>
          </p:nvPr>
        </p:nvSpPr>
        <p:spPr>
          <a:xfrm>
            <a:off x="5993969" y="2861733"/>
            <a:ext cx="5088713" cy="2512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1" name="Google Shape;51;p7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9159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009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5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75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5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62" name="Google Shape;62;p75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63" name="Google Shape;63;p7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493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>
  <p:cSld name="Comparação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76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6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p76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71" name="Google Shape;71;p76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72" name="Google Shape;72;p76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73" name="Google Shape;73;p7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7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7960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7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77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7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7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7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0248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8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78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39F8A"/>
              </a:buClr>
              <a:buSzPts val="2000"/>
              <a:buFont typeface="Gill Sans"/>
              <a:buNone/>
              <a:defRPr sz="2000" b="0"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78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78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7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7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7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5740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Imagem com Legenda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9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79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79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94" name="Google Shape;94;p7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7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0890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Título e Texto Vertical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0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8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80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101" name="Google Shape;101;p8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8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8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4749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Texto e Título Vertical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1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1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81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108" name="Google Shape;108;p81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539F8A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81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81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lvl="1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lvl="2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lvl="3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lvl="4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lvl="5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lvl="6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lvl="7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lvl="8" indent="0" algn="r">
              <a:spcBef>
                <a:spcPts val="0"/>
              </a:spcBef>
              <a:buNone/>
              <a:defRPr sz="900">
                <a:solidFill>
                  <a:srgbClr val="539F8A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919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8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68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6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6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6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6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68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68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742339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3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pt-BR" dirty="0"/>
              <a:t>EXERCÍCIOS DE FIXAÇÃO</a:t>
            </a:r>
            <a:endParaRPr dirty="0"/>
          </a:p>
        </p:txBody>
      </p:sp>
      <p:sp>
        <p:nvSpPr>
          <p:cNvPr id="698" name="Google Shape;698;p63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64"/>
          <p:cNvSpPr txBox="1"/>
          <p:nvPr/>
        </p:nvSpPr>
        <p:spPr>
          <a:xfrm>
            <a:off x="343315" y="1382624"/>
            <a:ext cx="11330608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400" dirty="0"/>
              <a:t>Uma biblioteca universitária deseja gerenciar o empréstimo de livros para alunos.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400" dirty="0"/>
              <a:t>Cada aluno possui um número de matrícula único, nome e data de nascimento.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400" dirty="0"/>
              <a:t>Cada aluno pertence a um curso específico, que é identificado por seu código e nome.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400" dirty="0"/>
              <a:t>Os livros são identificados por um ISBN, título e autor.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400" dirty="0"/>
              <a:t>Cada livro pertence a uma categoria específica, que é identificada por um código, nome e descrição.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400" dirty="0"/>
              <a:t>O processo de empréstimo é registrado com um código de empréstimo, data de empréstimo e data de devolução.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400" dirty="0"/>
              <a:t>Um aluno pode emprestar vários livros e um livro pode ser emprestado por vários alunos.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pt-BR" sz="2400" dirty="0"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400" dirty="0">
                <a:sym typeface="Arial"/>
              </a:rPr>
              <a:t>Desenhe um diagrama do esquema ER para essa aplicação. Declare, claramente, qualquer suposição que você faça.</a:t>
            </a:r>
            <a:endParaRPr sz="2400" dirty="0">
              <a:sym typeface="Arial"/>
            </a:endParaRPr>
          </a:p>
        </p:txBody>
      </p:sp>
      <p:sp>
        <p:nvSpPr>
          <p:cNvPr id="704" name="Google Shape;704;p64"/>
          <p:cNvSpPr txBox="1"/>
          <p:nvPr/>
        </p:nvSpPr>
        <p:spPr>
          <a:xfrm>
            <a:off x="361950" y="647700"/>
            <a:ext cx="112490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ea typeface="Gill Sans"/>
                <a:cs typeface="Gill Sans"/>
                <a:sym typeface="Gill Sans"/>
              </a:rPr>
              <a:t>EXERCICIO 1 – BIBLIOTECA UNIVERSITÁRIA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65"/>
          <p:cNvSpPr txBox="1"/>
          <p:nvPr/>
        </p:nvSpPr>
        <p:spPr>
          <a:xfrm>
            <a:off x="361950" y="1267759"/>
            <a:ext cx="11224591" cy="532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As votações de projetos de lei que </a:t>
            </a:r>
            <a:r>
              <a:rPr lang="pt-BR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ocorrem na Câmara dos Deputados do Brasil durante as sessões parlamentares são registradas em um banco de dados.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000" kern="0" dirty="0">
                <a:solidFill>
                  <a:srgbClr val="000000"/>
                </a:solidFill>
                <a:latin typeface="Arial"/>
                <a:cs typeface="Arial"/>
              </a:rPr>
              <a:t>Cada deputado pode votar em vários projetos de lei e cada projeto de lei pode receber votos de vários deputados.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000" dirty="0"/>
              <a:t>Cada deputado possui um identificador único, nome e partido.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000" dirty="0"/>
              <a:t>Os projetos de lei são identificados por um código, título e data de proposta. Cada projeto de lei pertence a uma categoria específica, identificada por um código, nome e descrição.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000" dirty="0"/>
              <a:t>O processo de votação é registrado com um código de votação, data da votação e o voto (A favor, Contra, Abstenção). Um deputado pode votar em vários projetos de lei e um projeto de lei pode receber votos de vários deputados.</a:t>
            </a:r>
            <a:endParaRPr lang="pt-BR" sz="20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Cada projeto de lei é apresentado por um único deputado.</a:t>
            </a:r>
          </a:p>
          <a:p>
            <a:pPr>
              <a:buClr>
                <a:srgbClr val="000000"/>
              </a:buClr>
              <a:defRPr/>
            </a:pPr>
            <a:r>
              <a:rPr lang="pt-BR" sz="2000" kern="0" dirty="0">
                <a:solidFill>
                  <a:srgbClr val="000000"/>
                </a:solidFill>
                <a:latin typeface="Arial"/>
                <a:cs typeface="Arial"/>
              </a:rPr>
              <a:t>Cada projeto de lei pertence a uma única categoria, mas uma categoria pode ter vários projetos de lei. Os detalhes das votações, deputados e projetos de lei devem ser registrados e gerenciados.</a:t>
            </a:r>
          </a:p>
          <a:p>
            <a:pPr>
              <a:buClr>
                <a:srgbClr val="000000"/>
              </a:buClr>
              <a:defRPr/>
            </a:pPr>
            <a:endParaRPr lang="pt-BR" sz="2000" kern="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buClr>
                <a:srgbClr val="000000"/>
              </a:buClr>
              <a:defRPr/>
            </a:pPr>
            <a:r>
              <a:rPr lang="pt-BR" sz="2000" dirty="0">
                <a:sym typeface="Arial"/>
              </a:rPr>
              <a:t>Desenhe um diagrama do esquema ER para essa aplicação. Declare, claramente, qualquer suposição que você faça.</a:t>
            </a:r>
            <a:endParaRPr lang="pt-BR" sz="2000" kern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10" name="Google Shape;710;p65"/>
          <p:cNvSpPr txBox="1"/>
          <p:nvPr/>
        </p:nvSpPr>
        <p:spPr>
          <a:xfrm>
            <a:off x="361950" y="647700"/>
            <a:ext cx="112490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"/>
                <a:ea typeface="Gill Sans"/>
                <a:cs typeface="Gill Sans"/>
                <a:sym typeface="Gill Sans"/>
              </a:rPr>
              <a:t>EXERCICIO 2 – VOTAÇÕES DE PROJETOS DE LEI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9DF05B39152BF41988EDA5944970AD6" ma:contentTypeVersion="1" ma:contentTypeDescription="Criar um novo documento." ma:contentTypeScope="" ma:versionID="2d2b4a5bb6c8c70e9f4b34a9363e3a61">
  <xsd:schema xmlns:xsd="http://www.w3.org/2001/XMLSchema" xmlns:xs="http://www.w3.org/2001/XMLSchema" xmlns:p="http://schemas.microsoft.com/office/2006/metadata/properties" xmlns:ns2="50bb7a6c-75fa-41ee-a771-cf8bdfa62b11" targetNamespace="http://schemas.microsoft.com/office/2006/metadata/properties" ma:root="true" ma:fieldsID="6306d2d691796816fb21eb964393d1fe" ns2:_="">
    <xsd:import namespace="50bb7a6c-75fa-41ee-a771-cf8bdfa62b11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b7a6c-75fa-41ee-a771-cf8bdfa62b1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50bb7a6c-75fa-41ee-a771-cf8bdfa62b11" xsi:nil="true"/>
  </documentManagement>
</p:properties>
</file>

<file path=customXml/itemProps1.xml><?xml version="1.0" encoding="utf-8"?>
<ds:datastoreItem xmlns:ds="http://schemas.openxmlformats.org/officeDocument/2006/customXml" ds:itemID="{1F7C1FC4-59BC-4651-ACB5-49BDB514E188}"/>
</file>

<file path=customXml/itemProps2.xml><?xml version="1.0" encoding="utf-8"?>
<ds:datastoreItem xmlns:ds="http://schemas.openxmlformats.org/officeDocument/2006/customXml" ds:itemID="{7B56E781-5BAF-40E6-8FBC-B329736174AE}"/>
</file>

<file path=customXml/itemProps3.xml><?xml version="1.0" encoding="utf-8"?>
<ds:datastoreItem xmlns:ds="http://schemas.openxmlformats.org/officeDocument/2006/customXml" ds:itemID="{EF5707E5-0EE4-46B6-B14B-3D63FAD85B36}"/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354</Words>
  <Application>Microsoft Office PowerPoint</Application>
  <PresentationFormat>Widescreen</PresentationFormat>
  <Paragraphs>21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Gill Sans</vt:lpstr>
      <vt:lpstr>Noto Sans Symbols</vt:lpstr>
      <vt:lpstr>Dividendo</vt:lpstr>
      <vt:lpstr>EXERCÍCIOS DE FIXAÇÃO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EM GRUPO</dc:title>
  <dc:creator>CLAUDIA MARIA SODERO SALLES</dc:creator>
  <cp:lastModifiedBy>MARIA SODERO SALLES, CLÁUDIA </cp:lastModifiedBy>
  <cp:revision>7</cp:revision>
  <dcterms:created xsi:type="dcterms:W3CDTF">2023-08-09T13:00:58Z</dcterms:created>
  <dcterms:modified xsi:type="dcterms:W3CDTF">2026-08-17T10:58:13Z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0x010100F9DF05B39152BF41988EDA5944970AD6</vt:lpwstr>
  </property>
</Properties>
</file>